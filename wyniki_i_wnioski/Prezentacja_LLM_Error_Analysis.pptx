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1828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Gdzie poddaje się model 8B?</a:t>
            </a:r>
          </a:p>
          <a:p>
            <a:r>
              <a:rPr sz="2200">
                <a:solidFill>
                  <a:srgbClr val="FFFFFF"/>
                </a:solidFill>
              </a:rPr>
              <a:t>Analiza błędów Llama 3.1 8B w multi-hop QA (HotpotQA)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80560"/>
            <a:ext cx="1072865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95959"/>
                </a:solidFill>
              </a:rPr>
              <a:t>Llama 3.1 8B  ·  7 konfiguracji  ·  sędzia Gemma 2 9B</a:t>
            </a:r>
          </a:p>
          <a:p>
            <a:r>
              <a:rPr sz="1600">
                <a:solidFill>
                  <a:srgbClr val="595959"/>
                </a:solidFill>
              </a:rPr>
              <a:t>Kurs NLP  ·  [imiona autorów]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Problem i 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3864"/>
                </a:solidFill>
              </a:rPr>
              <a:t>•  </a:t>
            </a:r>
            <a:r>
              <a:rPr b="1" sz="2000">
                <a:solidFill>
                  <a:srgbClr val="262626"/>
                </a:solidFill>
              </a:rPr>
              <a:t>Pytania multi-hop</a:t>
            </a:r>
            <a:r>
              <a:rPr sz="2000">
                <a:solidFill>
                  <a:srgbClr val="262626"/>
                </a:solidFill>
              </a:rPr>
              <a:t> — odpowiedź wymaga *dwóch skoków* (np. reżyser filmu → jego miejsce urodzenia)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3864"/>
                </a:solidFill>
              </a:rPr>
              <a:t>•  </a:t>
            </a:r>
            <a:r>
              <a:rPr b="1" sz="2000">
                <a:solidFill>
                  <a:srgbClr val="262626"/>
                </a:solidFill>
              </a:rPr>
              <a:t>Przepływ:</a:t>
            </a:r>
            <a:r>
              <a:rPr sz="2000">
                <a:solidFill>
                  <a:srgbClr val="262626"/>
                </a:solidFill>
              </a:rPr>
              <a:t> 100 zamrożonych pytań → 7 konfiguracji → 3400 odpowiedzi → 3 metryki + sędzia AI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3864"/>
                </a:solidFill>
              </a:rPr>
              <a:t>•  </a:t>
            </a:r>
            <a:r>
              <a:rPr b="1" sz="2000">
                <a:solidFill>
                  <a:srgbClr val="262626"/>
                </a:solidFill>
              </a:rPr>
              <a:t>Zbiór:</a:t>
            </a:r>
            <a:r>
              <a:rPr sz="2000">
                <a:solidFill>
                  <a:srgbClr val="262626"/>
                </a:solidFill>
              </a:rPr>
              <a:t> HotpotQA (distractor), 100 pytań zbalansowanych (25× bridge/comparison × easy/hard), zamrożony raz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3864"/>
                </a:solidFill>
              </a:rPr>
              <a:t>•  </a:t>
            </a:r>
            <a:r>
              <a:rPr b="1" sz="2000">
                <a:solidFill>
                  <a:srgbClr val="262626"/>
                </a:solidFill>
              </a:rPr>
              <a:t>Model:</a:t>
            </a:r>
            <a:r>
              <a:rPr sz="2000">
                <a:solidFill>
                  <a:srgbClr val="262626"/>
                </a:solidFill>
              </a:rPr>
              <a:t> Llama 3.1 8B lokalnie (Ollama)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3864"/>
                </a:solidFill>
              </a:rPr>
              <a:t>•  </a:t>
            </a:r>
            <a:r>
              <a:rPr b="1" sz="2000">
                <a:solidFill>
                  <a:srgbClr val="262626"/>
                </a:solidFill>
              </a:rPr>
              <a:t>7 konfiguracji:</a:t>
            </a:r>
            <a:r>
              <a:rPr sz="2000">
                <a:solidFill>
                  <a:srgbClr val="262626"/>
                </a:solidFill>
              </a:rPr>
              <a:t> temperatura (0 / 0.5 / 1.0) × prompt (standard / CoT / expert) × agent z Wikipedią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Kryzys klasycznych metryk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Exact Match = 0%</a:t>
            </a:r>
            <a:r>
              <a:rPr sz="1700">
                <a:solidFill>
                  <a:srgbClr val="262626"/>
                </a:solidFill>
              </a:rPr>
              <a:t> we wszystkich 7 konfiguracjach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F1 = 3–17%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Sędzia AI (Gemma 2 9B) = 69–77%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sz="1700">
                <a:solidFill>
                  <a:srgbClr val="262626"/>
                </a:solidFill>
              </a:rPr>
              <a:t>Model „rozlewa" odpowiedź: gold *Elizabeth Taylor*, model *„Dame Elizabeth Rosemond Taylor was a British-American actress…"*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Wniosek:</a:t>
            </a:r>
            <a:r>
              <a:rPr sz="1700">
                <a:solidFill>
                  <a:srgbClr val="262626"/>
                </a:solidFill>
              </a:rPr>
              <a:t> miary n-gramowe są bezużyteczne do oceny wnioskowania LLM</a:t>
            </a:r>
          </a:p>
        </p:txBody>
      </p:sp>
      <p:pic>
        <p:nvPicPr>
          <p:cNvPr id="5" name="Picture 4" descr="performance_by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212080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Typologia błędów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•  </a:t>
            </a:r>
            <a:r>
              <a:rPr b="1" sz="1800">
                <a:solidFill>
                  <a:srgbClr val="262626"/>
                </a:solidFill>
              </a:rPr>
              <a:t>Multi-hop reasoning — 80.9%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•  </a:t>
            </a:r>
            <a:r>
              <a:rPr sz="1800">
                <a:solidFill>
                  <a:srgbClr val="262626"/>
                </a:solidFill>
              </a:rPr>
              <a:t>Entity confusion — 8.2%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•  </a:t>
            </a:r>
            <a:r>
              <a:rPr sz="1800">
                <a:solidFill>
                  <a:srgbClr val="262626"/>
                </a:solidFill>
              </a:rPr>
              <a:t>Format error — 5.6%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•  </a:t>
            </a:r>
            <a:r>
              <a:rPr sz="1800">
                <a:solidFill>
                  <a:srgbClr val="262626"/>
                </a:solidFill>
              </a:rPr>
              <a:t>Halucynacja — 4.5%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•  </a:t>
            </a:r>
            <a:r>
              <a:rPr sz="1800">
                <a:solidFill>
                  <a:srgbClr val="262626"/>
                </a:solidFill>
              </a:rPr>
              <a:t>Negacja — 0.8%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•  </a:t>
            </a:r>
            <a:r>
              <a:rPr b="1" sz="1800">
                <a:solidFill>
                  <a:srgbClr val="262626"/>
                </a:solidFill>
              </a:rPr>
              <a:t>Wniosek:</a:t>
            </a:r>
            <a:r>
              <a:rPr sz="1800">
                <a:solidFill>
                  <a:srgbClr val="262626"/>
                </a:solidFill>
              </a:rPr>
              <a:t> bariera 8B to drugi skok rozumowania, nie halucynacje</a:t>
            </a:r>
          </a:p>
        </p:txBody>
      </p:sp>
      <p:pic>
        <p:nvPicPr>
          <p:cNvPr id="5" name="Picture 4" descr="erro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303520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Błędy systematyczne vs stochastyczne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temp 0</a:t>
            </a:r>
            <a:r>
              <a:rPr sz="1700">
                <a:solidFill>
                  <a:srgbClr val="262626"/>
                </a:solidFill>
              </a:rPr>
              <a:t> (C1, C4, C6) → błędy </a:t>
            </a:r>
            <a:r>
              <a:rPr b="1" sz="1700">
                <a:solidFill>
                  <a:srgbClr val="262626"/>
                </a:solidFill>
              </a:rPr>
              <a:t>systematyczne</a:t>
            </a:r>
            <a:r>
              <a:rPr sz="1700">
                <a:solidFill>
                  <a:srgbClr val="262626"/>
                </a:solidFill>
              </a:rPr>
              <a:t> (0 stochastycznych — determinizm)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temp 0.5–1.0</a:t>
            </a:r>
            <a:r>
              <a:rPr sz="1700">
                <a:solidFill>
                  <a:srgbClr val="262626"/>
                </a:solidFill>
              </a:rPr>
              <a:t> (C2, C3, C5) → błędy </a:t>
            </a:r>
            <a:r>
              <a:rPr b="1" sz="1700">
                <a:solidFill>
                  <a:srgbClr val="262626"/>
                </a:solidFill>
              </a:rPr>
              <a:t>stochastyczne</a:t>
            </a:r>
            <a:r>
              <a:rPr sz="1700">
                <a:solidFill>
                  <a:srgbClr val="262626"/>
                </a:solidFill>
              </a:rPr>
              <a:t> rosną z temperaturą (C3: 62/100)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Recepta:</a:t>
            </a:r>
            <a:r>
              <a:rPr sz="1700">
                <a:solidFill>
                  <a:srgbClr val="262626"/>
                </a:solidFill>
              </a:rPr>
              <a:t> self-consistency naprawia stochastyczne, </a:t>
            </a:r>
            <a:r>
              <a:rPr b="1" sz="1700">
                <a:solidFill>
                  <a:srgbClr val="262626"/>
                </a:solidFill>
              </a:rPr>
              <a:t>nie</a:t>
            </a:r>
            <a:r>
              <a:rPr sz="1700">
                <a:solidFill>
                  <a:srgbClr val="262626"/>
                </a:solidFill>
              </a:rPr>
              <a:t> systematyczne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Teza:</a:t>
            </a:r>
            <a:r>
              <a:rPr sz="1700">
                <a:solidFill>
                  <a:srgbClr val="262626"/>
                </a:solidFill>
              </a:rPr>
              <a:t> ustawienia zmieniają nie ILE, a JAK (i czy naprawialnie) model się myli</a:t>
            </a:r>
          </a:p>
        </p:txBody>
      </p:sp>
      <p:pic>
        <p:nvPicPr>
          <p:cNvPr id="5" name="Picture 4" descr="systematic_stochas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737360"/>
            <a:ext cx="5303520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Paradoks RAG: agent z Wikipedią wypada GORZEJ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sz="1700">
                <a:solidFill>
                  <a:srgbClr val="262626"/>
                </a:solidFill>
              </a:rPr>
              <a:t>C7 (agent + Wikipedia): </a:t>
            </a:r>
            <a:r>
              <a:rPr b="1" sz="1700">
                <a:solidFill>
                  <a:srgbClr val="262626"/>
                </a:solidFill>
              </a:rPr>
              <a:t>~28%</a:t>
            </a:r>
            <a:r>
              <a:rPr sz="1700">
                <a:solidFill>
                  <a:srgbClr val="262626"/>
                </a:solidFill>
              </a:rPr>
              <a:t> sędziego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sz="1700">
                <a:solidFill>
                  <a:srgbClr val="262626"/>
                </a:solidFill>
              </a:rPr>
              <a:t>vs </a:t>
            </a:r>
            <a:r>
              <a:rPr b="1" sz="1700">
                <a:solidFill>
                  <a:srgbClr val="262626"/>
                </a:solidFill>
              </a:rPr>
              <a:t>69–77%</a:t>
            </a:r>
            <a:r>
              <a:rPr sz="1700">
                <a:solidFill>
                  <a:srgbClr val="262626"/>
                </a:solidFill>
              </a:rPr>
              <a:t> przy kontekście w prompcie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sz="1700">
                <a:solidFill>
                  <a:srgbClr val="262626"/>
                </a:solidFill>
              </a:rPr>
              <a:t>Błędy C7 są </a:t>
            </a:r>
            <a:r>
              <a:rPr b="1" sz="1700">
                <a:solidFill>
                  <a:srgbClr val="262626"/>
                </a:solidFill>
              </a:rPr>
              <a:t>systematyczne</a:t>
            </a:r>
            <a:r>
              <a:rPr sz="1700">
                <a:solidFill>
                  <a:srgbClr val="262626"/>
                </a:solidFill>
              </a:rPr>
              <a:t> (72/100) — powtarzalnie złe trajektorie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Dla modeli 8B „podaj kontekst" bije „pozwól szukać"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sz="1700">
                <a:solidFill>
                  <a:srgbClr val="262626"/>
                </a:solidFill>
              </a:rPr>
              <a:t>Model 8B gubi się w pętli ReAct: kiepskie zapytania, błądzenie</a:t>
            </a:r>
          </a:p>
        </p:txBody>
      </p:sp>
      <p:pic>
        <p:nvPicPr>
          <p:cNvPr id="5" name="Picture 4" descr="performance_by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5212080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Wpływ promptu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6400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475488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Konfiguracja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Judge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C6 — expert (temp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0.77  (najlepszy)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C4 — CoT (temp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0.75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C1 — standard (temp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0.73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C3 — standard (temp 1.0)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62626"/>
                          </a:solidFill>
                        </a:rPr>
                        <a:t>0.69  (najgorszy kontekstowy)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891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•  </a:t>
            </a:r>
            <a:r>
              <a:rPr sz="1800">
                <a:solidFill>
                  <a:srgbClr val="262626"/>
                </a:solidFill>
              </a:rPr>
              <a:t>CoT / expert dają </a:t>
            </a:r>
            <a:r>
              <a:rPr b="1" sz="1800">
                <a:solidFill>
                  <a:srgbClr val="262626"/>
                </a:solidFill>
              </a:rPr>
              <a:t>+2–4 pkt</a:t>
            </a:r>
            <a:r>
              <a:rPr sz="1800">
                <a:solidFill>
                  <a:srgbClr val="262626"/>
                </a:solidFill>
              </a:rPr>
              <a:t> — nie rewolucję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•  </a:t>
            </a:r>
            <a:r>
              <a:rPr sz="1800">
                <a:solidFill>
                  <a:srgbClr val="262626"/>
                </a:solidFill>
              </a:rPr>
              <a:t>CoT </a:t>
            </a:r>
            <a:r>
              <a:rPr b="1" sz="1800">
                <a:solidFill>
                  <a:srgbClr val="262626"/>
                </a:solidFill>
              </a:rPr>
              <a:t>zmienia profil błędów</a:t>
            </a:r>
            <a:r>
              <a:rPr sz="1800">
                <a:solidFill>
                  <a:srgbClr val="262626"/>
                </a:solidFill>
              </a:rPr>
              <a:t>: F1 spada do ~3% (model jeszcze bardziej „leje wodę")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•  </a:t>
            </a:r>
            <a:r>
              <a:rPr sz="1800">
                <a:solidFill>
                  <a:srgbClr val="262626"/>
                </a:solidFill>
              </a:rPr>
              <a:t>Wysoka temperatura lekko szkodzi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Walidacja ludzka: Cohen's kappa i Gwet's AC1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•  </a:t>
            </a:r>
            <a:r>
              <a:rPr b="1" sz="1800">
                <a:solidFill>
                  <a:srgbClr val="262626"/>
                </a:solidFill>
              </a:rPr>
              <a:t>Surowa zgodność człowiek ↔ Gemma: 74%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•  </a:t>
            </a:r>
            <a:r>
              <a:rPr b="1" sz="1800">
                <a:solidFill>
                  <a:srgbClr val="262626"/>
                </a:solidFill>
              </a:rPr>
              <a:t>Cohen's kappa = 0.256</a:t>
            </a:r>
            <a:r>
              <a:rPr sz="1800">
                <a:solidFill>
                  <a:srgbClr val="262626"/>
                </a:solidFill>
              </a:rPr>
              <a:t>   ·   </a:t>
            </a:r>
            <a:r>
              <a:rPr b="1" sz="1800">
                <a:solidFill>
                  <a:srgbClr val="262626"/>
                </a:solidFill>
              </a:rPr>
              <a:t>Gwet's AC1 = 0.715</a:t>
            </a:r>
            <a:r>
              <a:rPr sz="1800">
                <a:solidFill>
                  <a:srgbClr val="262626"/>
                </a:solidFill>
              </a:rPr>
              <a:t> (znaczna zgodność)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•  </a:t>
            </a:r>
            <a:r>
              <a:rPr b="1" sz="1800">
                <a:solidFill>
                  <a:srgbClr val="262626"/>
                </a:solidFill>
              </a:rPr>
              <a:t>Paradoks kappy:</a:t>
            </a:r>
            <a:r>
              <a:rPr sz="1800">
                <a:solidFill>
                  <a:srgbClr val="262626"/>
                </a:solidFill>
              </a:rPr>
              <a:t> rozkład skośny (76–84% multi-hop) zaniża κ; AC1 (odporny, Gwet 2008) pokazuje zgodność jako znaczną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•  </a:t>
            </a:r>
            <a:r>
              <a:rPr b="1" sz="1800">
                <a:solidFill>
                  <a:srgbClr val="262626"/>
                </a:solidFill>
              </a:rPr>
              <a:t>Realny finding:</a:t>
            </a:r>
            <a:r>
              <a:rPr sz="1800">
                <a:solidFill>
                  <a:srgbClr val="262626"/>
                </a:solidFill>
              </a:rPr>
              <a:t> człowiek wyłapał </a:t>
            </a:r>
            <a:r>
              <a:rPr b="1" sz="1800">
                <a:solidFill>
                  <a:srgbClr val="262626"/>
                </a:solidFill>
              </a:rPr>
              <a:t>15 błędów formatu</a:t>
            </a:r>
            <a:r>
              <a:rPr sz="1800">
                <a:solidFill>
                  <a:srgbClr val="262626"/>
                </a:solidFill>
              </a:rPr>
              <a:t> (model dobrze, ale rozwlekle), które Gemma wzięła za multi-hop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3864"/>
                </a:solidFill>
              </a:rPr>
              <a:t>•  </a:t>
            </a:r>
            <a:r>
              <a:rPr sz="1800">
                <a:solidFill>
                  <a:srgbClr val="262626"/>
                </a:solidFill>
              </a:rPr>
              <a:t>→ Sędzia AI </a:t>
            </a:r>
            <a:r>
              <a:rPr b="1" sz="1800">
                <a:solidFill>
                  <a:srgbClr val="262626"/>
                </a:solidFill>
              </a:rPr>
              <a:t>myli formę z poprawnością</a:t>
            </a:r>
            <a:r>
              <a:rPr sz="1800">
                <a:solidFill>
                  <a:srgbClr val="262626"/>
                </a:solidFill>
              </a:rPr>
              <a:t> (jak EM) — zautomatyzowany pipeline wymaga nadzoru człowieka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Wnioski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F3864"/>
                </a:solidFill>
              </a:rPr>
              <a:t>•  </a:t>
            </a:r>
            <a:r>
              <a:rPr b="1" sz="1900">
                <a:solidFill>
                  <a:srgbClr val="262626"/>
                </a:solidFill>
              </a:rPr>
              <a:t>1.</a:t>
            </a:r>
            <a:r>
              <a:rPr sz="1900">
                <a:solidFill>
                  <a:srgbClr val="262626"/>
                </a:solidFill>
              </a:rPr>
              <a:t> Miary n-gramowe (EM/F1) są martwe dla oceny LLM — liczy się sędzia semantyczny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F3864"/>
                </a:solidFill>
              </a:rPr>
              <a:t>•  </a:t>
            </a:r>
            <a:r>
              <a:rPr b="1" sz="1900">
                <a:solidFill>
                  <a:srgbClr val="262626"/>
                </a:solidFill>
              </a:rPr>
              <a:t>2.</a:t>
            </a:r>
            <a:r>
              <a:rPr sz="1900">
                <a:solidFill>
                  <a:srgbClr val="262626"/>
                </a:solidFill>
              </a:rPr>
              <a:t> Bariera modeli 8B to </a:t>
            </a:r>
            <a:r>
              <a:rPr b="1" sz="1900">
                <a:solidFill>
                  <a:srgbClr val="262626"/>
                </a:solidFill>
              </a:rPr>
              <a:t>drugi skok rozumowania</a:t>
            </a:r>
            <a:r>
              <a:rPr sz="1900">
                <a:solidFill>
                  <a:srgbClr val="262626"/>
                </a:solidFill>
              </a:rPr>
              <a:t> (80.9% błędów), nie halucynacje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F3864"/>
                </a:solidFill>
              </a:rPr>
              <a:t>•  </a:t>
            </a:r>
            <a:r>
              <a:rPr b="1" sz="1900">
                <a:solidFill>
                  <a:srgbClr val="262626"/>
                </a:solidFill>
              </a:rPr>
              <a:t>3.</a:t>
            </a:r>
            <a:r>
              <a:rPr sz="1900">
                <a:solidFill>
                  <a:srgbClr val="262626"/>
                </a:solidFill>
              </a:rPr>
              <a:t> RAG bez silnego modelu szkodzi; self-consistency naprawia tylko błędy stochastyczne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9768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3864"/>
                </a:solidFill>
              </a:rPr>
              <a:t>•  </a:t>
            </a:r>
            <a:r>
              <a:rPr b="1" sz="1600">
                <a:solidFill>
                  <a:srgbClr val="262626"/>
                </a:solidFill>
              </a:rPr>
              <a:t>Ograniczenia:</a:t>
            </a:r>
            <a:r>
              <a:rPr sz="1600">
                <a:solidFill>
                  <a:srgbClr val="262626"/>
                </a:solidFill>
              </a:rPr>
              <a:t> 100 pytań (25/komórkę) · jeden anotator · sędzia 9B · możliwa kontaminacja HotpotQA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3864"/>
                </a:solidFill>
              </a:rPr>
              <a:t>•  </a:t>
            </a:r>
            <a:r>
              <a:rPr b="1" sz="1600">
                <a:solidFill>
                  <a:srgbClr val="262626"/>
                </a:solidFill>
              </a:rPr>
              <a:t>Future work:</a:t>
            </a:r>
            <a:r>
              <a:rPr sz="1600">
                <a:solidFill>
                  <a:srgbClr val="262626"/>
                </a:solidFill>
              </a:rPr>
              <a:t> silniejszy sędzia (GPT-4o/Gemini) · self-consistency produkcyjnie · lepszy scaffolding agenta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72865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Dziękujemy — pytania?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95959"/>
                </a:solidFill>
              </a:rPr>
              <a:t>Slajdy backup na kolejnych stronach: pełna tabela metryk, taksonomia, przykład multi-hop, liczby sys/stoch, sanity-check 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BACKUP — Pełna tabela metryk (7×3)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645920"/>
          <a:ext cx="99669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Konfiguracja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EM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Judge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C1 — std, temp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73.0%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C2 — std, temp 0.5 (×10)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73.5%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C3 — std, temp 1.0 (×10)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15.1%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69.1%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C4 — CoT, temp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75.0%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C5 — CoT, temp 0.5 (×10)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74.0%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C6 — expert, temp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77.0%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C7 — agent + Wikipedia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28.0%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95959"/>
                </a:solidFill>
              </a:rPr>
              <a:t>F1 spada przy CoT/expert (C4–C6), bo dłuższe „rozumowanie" rozcieńcza pokrycie tokenów.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BACKUP — Taksonomia 5 kategorii błędów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F3864"/>
                </a:solidFill>
              </a:rPr>
              <a:t>•  </a:t>
            </a:r>
            <a:r>
              <a:rPr b="1" sz="1900">
                <a:solidFill>
                  <a:srgbClr val="262626"/>
                </a:solidFill>
              </a:rPr>
              <a:t>1. Halucynacja</a:t>
            </a:r>
            <a:r>
              <a:rPr sz="1900">
                <a:solidFill>
                  <a:srgbClr val="262626"/>
                </a:solidFill>
              </a:rPr>
              <a:t> — informacja zmyślona, nieobecna w tekście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F3864"/>
                </a:solidFill>
              </a:rPr>
              <a:t>•  </a:t>
            </a:r>
            <a:r>
              <a:rPr b="1" sz="1900">
                <a:solidFill>
                  <a:srgbClr val="262626"/>
                </a:solidFill>
              </a:rPr>
              <a:t>2. Multi-hop reasoning</a:t>
            </a:r>
            <a:r>
              <a:rPr sz="1900">
                <a:solidFill>
                  <a:srgbClr val="262626"/>
                </a:solidFill>
              </a:rPr>
              <a:t> — pierwszy skok OK, drugi krok zawodzi (połączenie faktów)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F3864"/>
                </a:solidFill>
              </a:rPr>
              <a:t>•  </a:t>
            </a:r>
            <a:r>
              <a:rPr b="1" sz="1900">
                <a:solidFill>
                  <a:srgbClr val="262626"/>
                </a:solidFill>
              </a:rPr>
              <a:t>3. Format</a:t>
            </a:r>
            <a:r>
              <a:rPr sz="1900">
                <a:solidFill>
                  <a:srgbClr val="262626"/>
                </a:solidFill>
              </a:rPr>
              <a:t> — zna fakt, ale zła forma (akapit „lania wody" zamiast krótkiej frazy)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F3864"/>
                </a:solidFill>
              </a:rPr>
              <a:t>•  </a:t>
            </a:r>
            <a:r>
              <a:rPr b="1" sz="1900">
                <a:solidFill>
                  <a:srgbClr val="262626"/>
                </a:solidFill>
              </a:rPr>
              <a:t>4. Negacja</a:t>
            </a:r>
            <a:r>
              <a:rPr sz="1900">
                <a:solidFill>
                  <a:srgbClr val="262626"/>
                </a:solidFill>
              </a:rPr>
              <a:t> — model źle odczytał negację w tekście źródłowym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F3864"/>
                </a:solidFill>
              </a:rPr>
              <a:t>•  </a:t>
            </a:r>
            <a:r>
              <a:rPr b="1" sz="1900">
                <a:solidFill>
                  <a:srgbClr val="262626"/>
                </a:solidFill>
              </a:rPr>
              <a:t>5. Entity confusion</a:t>
            </a:r>
            <a:r>
              <a:rPr sz="1900">
                <a:solidFill>
                  <a:srgbClr val="262626"/>
                </a:solidFill>
              </a:rPr>
              <a:t> — wybrał powiązaną, ale złą encję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95959"/>
                </a:solidFill>
              </a:rPr>
              <a:t>Rozkład: multi-hop 80.9% · entity 8.2% · format 5.6% · halucynacja 4.5% · negacja 0.8%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BACKUP — Przykład: czysty multi-hop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Pytanie:</a:t>
            </a:r>
            <a:r>
              <a:rPr sz="1700">
                <a:solidFill>
                  <a:srgbClr val="262626"/>
                </a:solidFill>
              </a:rPr>
              <a:t> *Charles Libby graduated from a high school located at what address?*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Złota odpowiedź:</a:t>
            </a:r>
            <a:r>
              <a:rPr sz="1700">
                <a:solidFill>
                  <a:srgbClr val="262626"/>
                </a:solidFill>
              </a:rPr>
              <a:t> 284 Cumberland Avenue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Model (C1, temp 0):</a:t>
            </a:r>
            <a:r>
              <a:rPr sz="1700">
                <a:solidFill>
                  <a:srgbClr val="262626"/>
                </a:solidFill>
              </a:rPr>
              <a:t> *„There is no information… However, he graduated from Portland High School in Maine."*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Fakt ①:</a:t>
            </a:r>
            <a:r>
              <a:rPr sz="1700">
                <a:solidFill>
                  <a:srgbClr val="262626"/>
                </a:solidFill>
              </a:rPr>
              <a:t> *Libby graduated from Portland High School* — ✅ model to znalazł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Fakt ②:</a:t>
            </a:r>
            <a:r>
              <a:rPr sz="1700">
                <a:solidFill>
                  <a:srgbClr val="262626"/>
                </a:solidFill>
              </a:rPr>
              <a:t> *Portland High School is located at 284 Cumberland Avenue* — ❌ model nie połączył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sz="1700">
                <a:solidFill>
                  <a:srgbClr val="262626"/>
                </a:solidFill>
              </a:rPr>
              <a:t>→ Pierwszy skok wykonany, drugi nie. Model nawet </a:t>
            </a:r>
            <a:r>
              <a:rPr b="1" sz="1700">
                <a:solidFill>
                  <a:srgbClr val="262626"/>
                </a:solidFill>
              </a:rPr>
              <a:t>przyznaje</a:t>
            </a:r>
            <a:r>
              <a:rPr sz="1700">
                <a:solidFill>
                  <a:srgbClr val="262626"/>
                </a:solidFill>
              </a:rPr>
              <a:t> „brak informacji", choć była w tekście.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BACKUP — Systematyczne vs stochastyczne (n=100)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645920"/>
          <a:ext cx="99669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  <a:gridCol w="2491740"/>
                <a:gridCol w="249174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Konfiguracja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Bez błędu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Stochastyczne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Systematyczne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C1 — temp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27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C2 — temp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C3 — temp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C4 — CoT temp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25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C5 — CoT temp 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C6 — expert temp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23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C7 —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62626"/>
                          </a:solidFill>
                        </a:rPr>
                        <a:t>72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95959"/>
                </a:solidFill>
              </a:rPr>
              <a:t>temp 0 → wyłącznie systematyczne (determinizm). temp&gt;0 → stochastyczne rosną z temperaturą.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864"/>
                </a:solidFill>
              </a:rPr>
              <a:t>BACKUP — Sanity-check: dlaczego EM =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EM = 0 dla wszystkich 3400 odpowiedzi</a:t>
            </a:r>
            <a:r>
              <a:rPr sz="1700">
                <a:solidFill>
                  <a:srgbClr val="262626"/>
                </a:solidFill>
              </a:rPr>
              <a:t> — realny efekt, nie bug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Mediana odpowiedzi modelu: 39 słów</a:t>
            </a:r>
            <a:r>
              <a:rPr sz="1700">
                <a:solidFill>
                  <a:srgbClr val="262626"/>
                </a:solidFill>
              </a:rPr>
              <a:t> vs </a:t>
            </a:r>
            <a:r>
              <a:rPr b="1" sz="1700">
                <a:solidFill>
                  <a:srgbClr val="262626"/>
                </a:solidFill>
              </a:rPr>
              <a:t>mediana golda: 2 słowa</a:t>
            </a:r>
            <a:r>
              <a:rPr sz="1700">
                <a:solidFill>
                  <a:srgbClr val="262626"/>
                </a:solidFill>
              </a:rPr>
              <a:t> (~20× za długo)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Złota odpowiedź dosłownie zawarta w 68.2%</a:t>
            </a:r>
            <a:r>
              <a:rPr sz="1700">
                <a:solidFill>
                  <a:srgbClr val="262626"/>
                </a:solidFill>
              </a:rPr>
              <a:t> odpowiedzi → fakt zwykle JEST, metryka go gubi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„Zawiera gold" 68.2% ≈ Judge 71.1%</a:t>
            </a:r>
            <a:r>
              <a:rPr sz="1700">
                <a:solidFill>
                  <a:srgbClr val="262626"/>
                </a:solidFill>
              </a:rPr>
              <a:t> → niezależny, nie-LLM-owy sygnał potwierdza sędziego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b="1" sz="1700">
                <a:solidFill>
                  <a:srgbClr val="262626"/>
                </a:solidFill>
              </a:rPr>
              <a:t>Przykład (C1):</a:t>
            </a:r>
            <a:r>
              <a:rPr sz="1700">
                <a:solidFill>
                  <a:srgbClr val="262626"/>
                </a:solidFill>
              </a:rPr>
              <a:t> gold *Elizabeth Rosemond Taylor*, model *„Elizabeth Taylor was a British-American actress…"* — merytorycznie </a:t>
            </a:r>
            <a:r>
              <a:rPr b="1" sz="1700">
                <a:solidFill>
                  <a:srgbClr val="262626"/>
                </a:solidFill>
              </a:rPr>
              <a:t>dobrze</a:t>
            </a:r>
            <a:r>
              <a:rPr sz="1700">
                <a:solidFill>
                  <a:srgbClr val="262626"/>
                </a:solidFill>
              </a:rPr>
              <a:t>, EM = 0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1F3864"/>
                </a:solidFill>
              </a:rPr>
              <a:t>•  </a:t>
            </a:r>
            <a:r>
              <a:rPr sz="1700">
                <a:solidFill>
                  <a:srgbClr val="262626"/>
                </a:solidFill>
              </a:rPr>
              <a:t>→ EM/F1 mierzą formę, nie wiedzę. Stąd konieczność sędziego semantycznego.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